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€ / mois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 &quot;€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Voix (VAPI)</c:v>
                  </c:pt>
                  <c:pt idx="1">
                    <c:v>IA Claude</c:v>
                  </c:pt>
                  <c:pt idx="2">
                    <c:v>Make (Core)</c:v>
                  </c:pt>
                  <c:pt idx="3">
                    <c:v>SMS (Brevo)</c:v>
                  </c:pt>
                  <c:pt idx="4">
                    <c:v>WhatsApp (Meta)</c:v>
                  </c:pt>
                  <c:pt idx="5">
                    <c:v>N° de téléphone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</c:v>
                </c:pt>
                <c:pt idx="1">
                  <c:v>30</c:v>
                </c:pt>
                <c:pt idx="2">
                  <c:v>11</c:v>
                </c:pt>
                <c:pt idx="3">
                  <c:v>8</c:v>
                </c:pt>
                <c:pt idx="4">
                  <c:v>7</c:v>
                </c:pt>
                <c:pt idx="5">
                  <c:v>2</c:v>
                </c:pt>
              </c:numCache>
            </c:numRef>
          </c:val>
        </c:ser>
        <c:dLbls>
          <c:numFmt formatCode="0 &quot;€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F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A9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MULTIAIR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Plateforme des demandes clients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· outils · coûts par appel · partie technique · passation à un tiers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658368" cy="65836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696" y="4103096"/>
            <a:ext cx="316017" cy="31601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0" y="3931920"/>
            <a:ext cx="658368" cy="65836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096" y="4103096"/>
            <a:ext cx="316017" cy="31601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560320" y="3931920"/>
            <a:ext cx="658368" cy="65836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496" y="4103096"/>
            <a:ext cx="316017" cy="316017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474720" y="3931920"/>
            <a:ext cx="658368" cy="65836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5896" y="4103096"/>
            <a:ext cx="316017" cy="316017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389120" y="3931920"/>
            <a:ext cx="658368" cy="65836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0296" y="4103096"/>
            <a:ext cx="316017" cy="316017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303520" y="3931920"/>
            <a:ext cx="658368" cy="658368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4696" y="4103096"/>
            <a:ext cx="316017" cy="316017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Répondeur Claire (VAPI) · Chatbot du site · WhatsApp (Meta) · SMS (Brevo) · E-mails · Make · Plateforme (one.com)</a:t>
            </a:r>
            <a:endParaRPr lang="en-US" sz="1400" dirty="0"/>
          </a:p>
        </p:txBody>
      </p:sp>
      <p:sp>
        <p:nvSpPr>
          <p:cNvPr id="18" name="Text 10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Multiair France — état au 30 septembre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un coup d'œil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plateforme reçoit toutes les demandes, quel que soit le canal, et les route vers la bonne personne.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2560320"/>
          </a:xfrm>
          <a:prstGeom prst="roundRect">
            <a:avLst>
              <a:gd name="adj" fmla="val 2857"/>
            </a:avLst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canaux d'entrée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101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Téléphone, chatbot du site, WhatsApp, e-mail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64992" y="1645920"/>
            <a:ext cx="2606040" cy="2560320"/>
          </a:xfrm>
          <a:prstGeom prst="roundRect">
            <a:avLst>
              <a:gd name="adj" fmla="val 2857"/>
            </a:avLst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47872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+ responsables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33101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SAV, commerce, comptabilité, et un responsable des sujets indéterminés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1344" y="1645920"/>
            <a:ext cx="2606040" cy="2560320"/>
          </a:xfrm>
          <a:prstGeom prst="roundRect">
            <a:avLst>
              <a:gd name="adj" fmla="val 2857"/>
            </a:avLst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64224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0,40–0,90 €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364224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appel au répondeur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64224" y="33101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70 à 80 % pour la voix (VAPI)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97696" y="1645920"/>
            <a:ext cx="2606040" cy="2560320"/>
          </a:xfrm>
          <a:prstGeom prst="roundRect">
            <a:avLst>
              <a:gd name="adj" fmla="val 2857"/>
            </a:avLst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80576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0,30–0,45 €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9180576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conversation chatbot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80576" y="33101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surtout l'IA qui relit ses consignes à chaque message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66928" cy="5669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4673681"/>
            <a:ext cx="272125" cy="27212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280160" y="44988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reconnus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48463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 qui rappelle est reconnu : identité confirmée, demande ouverte relancée plutôt que dupliquée.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297680" y="4526280"/>
            <a:ext cx="566928" cy="5669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81" y="4673681"/>
            <a:ext cx="272125" cy="272125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029200" y="44988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5029200" y="48463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reçu quoi, quand, par quel canal, et les réponses : tout est dans l'historique de chaque demande.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8046720" y="4526280"/>
            <a:ext cx="566928" cy="5669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4121" y="4673681"/>
            <a:ext cx="272125" cy="27212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778240" y="44988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par service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8778240" y="48463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service voit ses demandes ; les administrateurs voient tout ; les RSO voient tout le SAV.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MULTIAIR · conception, coûts et passation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d'ensemble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canaux entrent par Make ; la plateforme décide qui prévient qui ; Make envoie les messages.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517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93392"/>
            <a:ext cx="566928" cy="5669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201" y="2140793"/>
            <a:ext cx="272125" cy="2721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93852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Claire (VAPI)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907792"/>
            <a:ext cx="26517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3072384"/>
            <a:ext cx="566928" cy="5669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01" y="3219785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30175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Claire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986784"/>
            <a:ext cx="26517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" y="4151376"/>
            <a:ext cx="566928" cy="5669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01" y="4298777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409651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client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5065776"/>
            <a:ext cx="26517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85800" y="5230368"/>
            <a:ext cx="566928" cy="5669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01" y="5377769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71600" y="5175504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Claire ADV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3886200" y="1828800"/>
            <a:ext cx="2103120" cy="4133088"/>
          </a:xfrm>
          <a:prstGeom prst="roundRect">
            <a:avLst>
              <a:gd name="adj" fmla="val 3478"/>
            </a:avLst>
          </a:prstGeom>
          <a:solidFill>
            <a:srgbClr val="FDE6D8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53712" y="2011680"/>
            <a:ext cx="768096" cy="768096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3417" y="2211385"/>
            <a:ext cx="368686" cy="36868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023360" y="2880360"/>
            <a:ext cx="1828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automatiques : reçoivent les appels, messages et e-mails, appellent la plateforme, envoient e-mails, SMS et WhatsApp.</a:t>
            </a:r>
            <a:endParaRPr lang="en-US" sz="1800" dirty="0"/>
          </a:p>
        </p:txBody>
      </p:sp>
      <p:sp>
        <p:nvSpPr>
          <p:cNvPr id="25" name="Shape 18"/>
          <p:cNvSpPr/>
          <p:nvPr/>
        </p:nvSpPr>
        <p:spPr>
          <a:xfrm>
            <a:off x="6629400" y="1828800"/>
            <a:ext cx="2331720" cy="4133088"/>
          </a:xfrm>
          <a:prstGeom prst="roundRect">
            <a:avLst>
              <a:gd name="adj" fmla="val 3137"/>
            </a:avLst>
          </a:prstGeom>
          <a:solidFill>
            <a:srgbClr val="0F2F52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7406640" y="2011680"/>
            <a:ext cx="768096" cy="7680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6345" y="2211385"/>
            <a:ext cx="368686" cy="36868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766560" y="2880360"/>
            <a:ext cx="2103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MULTIAIR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A9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one.com · PHP + SQLite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Demandes, clients, équipe, routage (qui reçoit quoi), suivi client, statistiques, historique.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946404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9464040" y="1828800"/>
            <a:ext cx="21945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9573768" y="1993392"/>
            <a:ext cx="566928" cy="566928"/>
          </a:xfrm>
          <a:prstGeom prst="ellipse">
            <a:avLst/>
          </a:prstGeom>
          <a:solidFill>
            <a:srgbClr val="0F2F52"/>
          </a:solidFill>
          <a:ln w="12700">
            <a:solidFill>
              <a:srgbClr val="0F2F52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1169" y="2140793"/>
            <a:ext cx="272125" cy="27212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222992" y="1938528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équipe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</a:t>
            </a:r>
            <a:endParaRPr lang="en-US" sz="1300" dirty="0"/>
          </a:p>
        </p:txBody>
      </p:sp>
      <p:sp>
        <p:nvSpPr>
          <p:cNvPr id="34" name="Shape 25"/>
          <p:cNvSpPr/>
          <p:nvPr/>
        </p:nvSpPr>
        <p:spPr>
          <a:xfrm>
            <a:off x="9464040" y="2907792"/>
            <a:ext cx="21945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9573768" y="3072384"/>
            <a:ext cx="566928" cy="566928"/>
          </a:xfrm>
          <a:prstGeom prst="ellipse">
            <a:avLst/>
          </a:prstGeom>
          <a:solidFill>
            <a:srgbClr val="0F2F52"/>
          </a:solidFill>
          <a:ln w="12700">
            <a:solidFill>
              <a:srgbClr val="0F2F52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1169" y="3219785"/>
            <a:ext cx="272125" cy="27212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0222992" y="30175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équipe SAV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</a:t>
            </a:r>
            <a:endParaRPr lang="en-US" sz="1300" dirty="0"/>
          </a:p>
        </p:txBody>
      </p:sp>
      <p:sp>
        <p:nvSpPr>
          <p:cNvPr id="38" name="Shape 28"/>
          <p:cNvSpPr/>
          <p:nvPr/>
        </p:nvSpPr>
        <p:spPr>
          <a:xfrm>
            <a:off x="9464040" y="3986784"/>
            <a:ext cx="21945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9573768" y="4151376"/>
            <a:ext cx="566928" cy="566928"/>
          </a:xfrm>
          <a:prstGeom prst="ellipse">
            <a:avLst/>
          </a:prstGeom>
          <a:solidFill>
            <a:srgbClr val="0F2F52"/>
          </a:solidFill>
          <a:ln w="12700">
            <a:solidFill>
              <a:srgbClr val="0F2F52"/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21169" y="4298777"/>
            <a:ext cx="272125" cy="272125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10222992" y="409651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client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Cloud API</a:t>
            </a:r>
            <a:endParaRPr lang="en-US" sz="1300" dirty="0"/>
          </a:p>
        </p:txBody>
      </p:sp>
      <p:sp>
        <p:nvSpPr>
          <p:cNvPr id="42" name="Shape 31"/>
          <p:cNvSpPr/>
          <p:nvPr/>
        </p:nvSpPr>
        <p:spPr>
          <a:xfrm>
            <a:off x="9464040" y="5065776"/>
            <a:ext cx="21945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3" name="Shape 32"/>
          <p:cNvSpPr/>
          <p:nvPr/>
        </p:nvSpPr>
        <p:spPr>
          <a:xfrm>
            <a:off x="9573768" y="5230368"/>
            <a:ext cx="566928" cy="566928"/>
          </a:xfrm>
          <a:prstGeom prst="ellipse">
            <a:avLst/>
          </a:prstGeom>
          <a:solidFill>
            <a:srgbClr val="0F2F52"/>
          </a:solidFill>
          <a:ln w="12700">
            <a:solidFill>
              <a:srgbClr val="0F2F52"/>
            </a:solidFill>
            <a:prstDash val="solid"/>
          </a:ln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1169" y="5377769"/>
            <a:ext cx="272125" cy="272125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10222992" y="5175504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client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+ lien</a:t>
            </a:r>
            <a:endParaRPr lang="en-US" sz="1300" dirty="0"/>
          </a:p>
        </p:txBody>
      </p:sp>
      <p:sp>
        <p:nvSpPr>
          <p:cNvPr id="46" name="Shape 34"/>
          <p:cNvSpPr/>
          <p:nvPr/>
        </p:nvSpPr>
        <p:spPr>
          <a:xfrm>
            <a:off x="3246120" y="2276856"/>
            <a:ext cx="594360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47" name="Shape 35"/>
          <p:cNvSpPr/>
          <p:nvPr/>
        </p:nvSpPr>
        <p:spPr>
          <a:xfrm>
            <a:off x="3246120" y="3355848"/>
            <a:ext cx="594360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48" name="Shape 36"/>
          <p:cNvSpPr/>
          <p:nvPr/>
        </p:nvSpPr>
        <p:spPr>
          <a:xfrm>
            <a:off x="3246120" y="4434840"/>
            <a:ext cx="594360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49" name="Shape 37"/>
          <p:cNvSpPr/>
          <p:nvPr/>
        </p:nvSpPr>
        <p:spPr>
          <a:xfrm>
            <a:off x="3246120" y="5513832"/>
            <a:ext cx="594360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50" name="Shape 38"/>
          <p:cNvSpPr/>
          <p:nvPr/>
        </p:nvSpPr>
        <p:spPr>
          <a:xfrm>
            <a:off x="6035040" y="3291840"/>
            <a:ext cx="548640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51" name="Shape 39"/>
          <p:cNvSpPr/>
          <p:nvPr/>
        </p:nvSpPr>
        <p:spPr>
          <a:xfrm>
            <a:off x="6035040" y="4206240"/>
            <a:ext cx="548640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headEnd type="triangle"/>
          </a:ln>
        </p:spPr>
      </p:sp>
      <p:sp>
        <p:nvSpPr>
          <p:cNvPr id="52" name="Text 40"/>
          <p:cNvSpPr txBox="1"/>
          <p:nvPr/>
        </p:nvSpPr>
        <p:spPr>
          <a:xfrm>
            <a:off x="5989320" y="2926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API</a:t>
            </a:r>
            <a:endParaRPr lang="en-US" sz="900" dirty="0"/>
          </a:p>
        </p:txBody>
      </p:sp>
      <p:sp>
        <p:nvSpPr>
          <p:cNvPr id="53" name="Text 41"/>
          <p:cNvSpPr txBox="1"/>
          <p:nvPr/>
        </p:nvSpPr>
        <p:spPr>
          <a:xfrm>
            <a:off x="5989320" y="426110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prévenir</a:t>
            </a:r>
            <a:endParaRPr lang="en-US" sz="900" dirty="0"/>
          </a:p>
        </p:txBody>
      </p:sp>
      <p:sp>
        <p:nvSpPr>
          <p:cNvPr id="54" name="Shape 42"/>
          <p:cNvSpPr/>
          <p:nvPr/>
        </p:nvSpPr>
        <p:spPr>
          <a:xfrm>
            <a:off x="9006840" y="2276856"/>
            <a:ext cx="411480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55" name="Shape 43"/>
          <p:cNvSpPr/>
          <p:nvPr/>
        </p:nvSpPr>
        <p:spPr>
          <a:xfrm>
            <a:off x="9006840" y="3355848"/>
            <a:ext cx="411480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56" name="Shape 44"/>
          <p:cNvSpPr/>
          <p:nvPr/>
        </p:nvSpPr>
        <p:spPr>
          <a:xfrm>
            <a:off x="9006840" y="4434840"/>
            <a:ext cx="411480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57" name="Shape 45"/>
          <p:cNvSpPr/>
          <p:nvPr/>
        </p:nvSpPr>
        <p:spPr>
          <a:xfrm>
            <a:off x="9006840" y="5513832"/>
            <a:ext cx="411480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58" name="Text 4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MULTIAIR · conception, coûts et passation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 d'un appel au répondeur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sonnerie à la demande traitée : chaque étape est enregistrée dans l'historique de la demande.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417320" y="2148840"/>
            <a:ext cx="1801368" cy="0"/>
          </a:xfrm>
          <a:prstGeom prst="line">
            <a:avLst/>
          </a:prstGeom>
          <a:noFill/>
          <a:ln w="25400">
            <a:solidFill>
              <a:srgbClr val="D5DC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78308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15" y="19732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Claire décroche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0632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VAPI. Reconnaît l'appelant connu (identité, demande ouverte, rappel prévu).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10128" y="2148840"/>
            <a:ext cx="1801368" cy="0"/>
          </a:xfrm>
          <a:prstGeom prst="line">
            <a:avLst/>
          </a:prstGeom>
          <a:noFill/>
          <a:ln w="25400">
            <a:solidFill>
              <a:srgbClr val="D5DC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52928" y="178308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123" y="197327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44144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2441448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2441448" y="30632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Service, machine, n° de série, code postal du site, urgence, e-mail.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202936" y="2148840"/>
            <a:ext cx="1801368" cy="0"/>
          </a:xfrm>
          <a:prstGeom prst="line">
            <a:avLst/>
          </a:prstGeom>
          <a:noFill/>
          <a:ln w="25400">
            <a:solidFill>
              <a:srgbClr val="D5DCE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45736" y="178308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931" y="197327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334256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4334256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créée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334256" y="30632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calcule qui prévenir (règles, secteurs, responsables).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095744" y="2148840"/>
            <a:ext cx="1801368" cy="0"/>
          </a:xfrm>
          <a:prstGeom prst="line">
            <a:avLst/>
          </a:prstGeom>
          <a:noFill/>
          <a:ln w="25400">
            <a:solidFill>
              <a:srgbClr val="D5DCE4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638544" y="1783080"/>
            <a:ext cx="731520" cy="7315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739" y="1973275"/>
            <a:ext cx="351130" cy="35113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227064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6227064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6227064" y="30632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ou appel d'un fixe : demande directe, e-mail à l'équipe + SMS SAV.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8988552" y="2148840"/>
            <a:ext cx="1801368" cy="0"/>
          </a:xfrm>
          <a:prstGeom prst="line">
            <a:avLst/>
          </a:prstGeom>
          <a:noFill/>
          <a:ln w="25400">
            <a:solidFill>
              <a:srgbClr val="D5DCE4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531352" y="178308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1547" y="1973275"/>
            <a:ext cx="351130" cy="35113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119872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8119872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8119872" y="30632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urgent : WhatsApp de validation. Sans réponse en 10 min, transmis quand même.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10424160" y="178308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4355" y="1973275"/>
            <a:ext cx="351130" cy="35113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001268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29"/>
          <p:cNvSpPr txBox="1"/>
          <p:nvPr/>
        </p:nvSpPr>
        <p:spPr>
          <a:xfrm>
            <a:off x="1001268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client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10012680" y="30632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charge, rappel prévu, traitée : le client est prévenu.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548640" y="452628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Text 32"/>
          <p:cNvSpPr txBox="1"/>
          <p:nvPr/>
        </p:nvSpPr>
        <p:spPr>
          <a:xfrm>
            <a:off x="777240" y="464515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rappelle 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encore ouverte : Claire le lui dit (statut, jour et heure du rappel) et relance l'équipe, sans créer de doublon.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depuis moins de 15 jours : la demande est rouverte. Plus ancienne : nouvelle demande liée à l'ancienne.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relance à 10 min est déclenchée par l'appel lui-même : aucun scénario ne tourne à vide.</a:t>
            </a:r>
            <a:endParaRPr lang="en-US" sz="1300" dirty="0"/>
          </a:p>
        </p:txBody>
      </p:sp>
      <p:sp>
        <p:nvSpPr>
          <p:cNvPr id="41" name="Text 33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MULTIAIR · conception, coûts et passation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 d'une conversation sur le chatbot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circuit que le répondeur : mêmes interlocuteurs, même suivi, même traçabilité.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01368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9677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74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Claire recueille sur le site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: profil deviné, besoin, marque orientée en interne, département, coordonnées vérifiées.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 : machine, n° de série, code postal du site, urgence, téléphone.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et commandes : devis ou commande, n° de commande ou de devis.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: n° de facture. Relance : n° de demande.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Tient compte de la page (blog, tarif en ligne…) ; jamais de prix, de délai ni de diagnostic.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présente comme l'assistante virtuelle si on le lui demande (loi européenne sur l'IA).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691640"/>
            <a:ext cx="658368" cy="658368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256" y="1862816"/>
            <a:ext cx="316017" cy="31601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78040" y="16459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le récapitulatif de fin de conversation et l'envoie à la plateforme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684264" y="2386584"/>
            <a:ext cx="0" cy="365760"/>
          </a:xfrm>
          <a:prstGeom prst="line">
            <a:avLst/>
          </a:prstGeom>
          <a:noFill/>
          <a:ln w="25400">
            <a:solidFill>
              <a:srgbClr val="D5DCE4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6355080" y="2788920"/>
            <a:ext cx="658368" cy="658368"/>
          </a:xfrm>
          <a:prstGeom prst="ellipse">
            <a:avLst/>
          </a:prstGeom>
          <a:solidFill>
            <a:srgbClr val="0F2F52"/>
          </a:solidFill>
          <a:ln w="12700">
            <a:solidFill>
              <a:srgbClr val="0F2F5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256" y="2960096"/>
            <a:ext cx="316017" cy="31601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78040" y="274320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la demande (ou relance l'existante) et calcule les destinataires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684264" y="3483864"/>
            <a:ext cx="0" cy="365760"/>
          </a:xfrm>
          <a:prstGeom prst="line">
            <a:avLst/>
          </a:prstGeom>
          <a:noFill/>
          <a:ln w="25400">
            <a:solidFill>
              <a:srgbClr val="D5DCE4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6355080" y="3886200"/>
            <a:ext cx="658368" cy="65836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256" y="4057376"/>
            <a:ext cx="316017" cy="31601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78040" y="38404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au format du répondeur + SMS pour toute demande SAV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684264" y="4581144"/>
            <a:ext cx="0" cy="365760"/>
          </a:xfrm>
          <a:prstGeom prst="line">
            <a:avLst/>
          </a:prstGeom>
          <a:noFill/>
          <a:ln w="25400">
            <a:solidFill>
              <a:srgbClr val="D5DCE4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6355080" y="4983480"/>
            <a:ext cx="658368" cy="65836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6256" y="5154656"/>
            <a:ext cx="316017" cy="31601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78040" y="49377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Visiteur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de confirmation avec son n° de demande et son lien de suivi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MULTIAIR · conception, coûts et passation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plateforme MULTIAIR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multiairfrance.store/calculateurs/interne/MULTIAIR — connexion par e-mail et mot de passe personnels.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603504" cy="60350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151" y="2031431"/>
            <a:ext cx="289682" cy="2896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1947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060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demandes au même endroit, filtres par service, canal, statut ; « À traiter » ; clôture groupée.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79392" y="16459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07992" y="1874520"/>
            <a:ext cx="603504" cy="60350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903" y="2031431"/>
            <a:ext cx="289682" cy="2896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66944" y="1947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07992" y="26060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des appelants, parc machines qui s'enrichit, corrections conservées, fusion des doublons.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10144" y="16459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38744" y="1874520"/>
            <a:ext cx="603504" cy="60350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655" y="2031431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97696" y="1947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et accès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38744" y="26060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Personnes, e-mails, portables, services, rôles ; invitations par e-mail ; accès limité à son service.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06240"/>
            <a:ext cx="603504" cy="60350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436315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36192" y="42793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reçoit quoi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9377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par service, marque, nature, secteur ; responsables par défaut ; boîtes partagées commerce.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279392" y="3977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07992" y="4206240"/>
            <a:ext cx="603504" cy="60350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903" y="4363151"/>
            <a:ext cx="289682" cy="28968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66944" y="42793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07992" y="49377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demande : messages, envois (qui, quand, par quel canal), réponses, transferts, relances.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010144" y="3977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38744" y="4206240"/>
            <a:ext cx="603504" cy="60350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5655" y="4363151"/>
            <a:ext cx="289682" cy="28968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97696" y="42793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238744" y="49377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par canal et par service, délais de prise en charge, clients fidèles.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MULTIAIR · conception, coûts et passation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outils et leur rôle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sont des services en ligne ; seule la plateforme est hébergée chez nous (one.com).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120640"/>
                <a:gridCol w="3291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Voix de Claire au téléphone : décroche, comprend, parle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la minute d'appel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WhatsApp Cloud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de validation et de suivi aux clients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 message (modèles, et depuis le 1er oct. 2026 aussi les réponses)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à l'équipe SAV et SMS de courtoisie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 SMS (crédits prépayés)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Scénarios qui relient tous les outils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Abonnement Core : 10 000 crédits / mois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(Claude)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du chatbot et analyses dans Make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Aux tokens (texte lu et écrit)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365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Envoi des e-mails équipe et client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Boîte existante, sans surcoût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one.com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Héberge la plateforme et sa base de données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Abonnement d'hébergement existant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source et historique des correctifs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MULTIAIR · conception, coûts et passation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Coût d'un appel au répondeur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: appel de 3 minutes, portable, SAV non urgent avec validation WhatsApp.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3152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82880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 unitaire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 appel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Voix, IA et téléphonie (VAPI)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 à 0,25 $ /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 à 0,70 €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(validation + 1 à 2 réponses)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0,03 € / message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 à 0,10 €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à l'équipe SAV (Brevo)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0,05 € / SMS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 à 0,10 €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(répondeur, suivi, relance 10 min)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0,0011 € / crédit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 à 0,03 €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 de l'appel par l'IA dans Make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aux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0,01 à 0,02 €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E-mails équipe et client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boîte existante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par appel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859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0,40 à 0,90 €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600200"/>
            <a:ext cx="3383280" cy="3657600"/>
          </a:xfrm>
          <a:prstGeom prst="roundRect">
            <a:avLst>
              <a:gd name="adj" fmla="val 2162"/>
            </a:avLst>
          </a:prstGeom>
          <a:solidFill>
            <a:srgbClr val="0F2F52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458200" y="1828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75 %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27889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coût d'un appel vient de la voix (VAPI) : c'est la durée de l'appel qui fait le prix.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40690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urgent ou depuis un fixe : pas de WhatsApp, ≈ 0,35 à 0,85 €.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publics relevés le 30/09/2026, 1 $ ≈ 0,90 € : à confirmer avec les factures (VAPI, Meta, Brevo, Make, Anthropic).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MULTIAIR · conception, coûts et passation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Coût d'une conversation sur le chatbot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: 8 messages échangés, demande SAV, visiteur avec un portable.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31520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645920"/>
                <a:gridCol w="19202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 unitaire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 conversation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Claude (Sonnet 5) : consignes relues à chaque message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2 $ / million de tokens lus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 à 0,30 €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(≈ 6 crédits par message + la demande)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0,0011 € / crédit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0,06 €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à l'équipe SAV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0,05 € / SMS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de courtoisie au visiteur (portable)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0,05 € / SMS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E-mails équipe et confirmation au visiteur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boîte existante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par conversation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859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0,30 à 0,45 €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600200"/>
            <a:ext cx="3383280" cy="3840480"/>
          </a:xfrm>
          <a:prstGeom prst="roundRect">
            <a:avLst>
              <a:gd name="adj" fmla="val 2162"/>
            </a:avLst>
          </a:prstGeom>
          <a:solidFill>
            <a:srgbClr val="FDE6D8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58200" y="1828800"/>
            <a:ext cx="603504" cy="603504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5111" y="1985711"/>
            <a:ext cx="289682" cy="28968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8972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 possible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458200" y="256032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consignes du chatbot font ≈ 17 000 tokens, relues à chaque message. Les raccourcir ou passer à un modèle moins cher (Claude Haiku 4.5 : 1 $ au lieu de 2 $) diviserait ce poste par deux environ. À tester sur des conversations réelles avant de changer.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publics relevés le 30/09/2026, 1 $ ≈ 0,90 € : à confirmer avec les factures. Un prospect sans portable ni SAV coûte ≈ 0,30 €.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MULTIAIR · conception, coûts et passation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Estimation mensuelle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150 appels au répondeur et 100 conversations chatbot par mois.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0020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0F2F52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909560" y="17373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130 €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6517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 pour ce volume, dont ≈ 13 € fixes.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3749040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fixes : l'abonnement Make et le numéro de téléphone ; le reste dépend du nombre d'appels et de conversations.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: le plan Core donne 10 000 crédits par mois pour tous les scénarios (ADV, devis, blog…). À surveiller : prendre des crédits en plus si besoin.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one.com et Microsoft 365 : abonnements déjà existants, non comptés ici.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MULTIAIR · conception, coûts et passation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Économies : fait et possible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ne rien faire tourner à vide, ne rien envoyer deux fois.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6928" cy="5669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793321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00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 — relance à 10 min déclenchée par l'appel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476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L'ancien scénario interrogeait la base toutes les 5 min : ≈ 17 000 crédits Make par mois à vide. Désormais ≈ 5 crédits par appel concerné.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578608"/>
            <a:ext cx="566928" cy="5669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726009"/>
            <a:ext cx="272125" cy="2721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5328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 — confirmation au visiteur par la plateforme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28803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e-mail (avec n° et lien de suivi) au lieu de deux messages séparés.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511296"/>
            <a:ext cx="566928" cy="566928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658697"/>
            <a:ext cx="272125" cy="27212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46557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 — arrêter la double écriture Google Sheets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38130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Certains scénarios écrivent encore dans Google Sheets en plus de la plateforme : crédits Make inutiles.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443984"/>
            <a:ext cx="566928" cy="566928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4591385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43982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tester — chatbot plus léger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474573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Consignes plus courtes ou modèle moins cher : jusqu'à ≈ − 50 % sur l'IA du chatbot.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5376672"/>
            <a:ext cx="566928" cy="566928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5524073"/>
            <a:ext cx="272125" cy="27212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25880" y="533095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surveiller — tarifs WhatsApp au 1er octobre 2026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325880" y="567842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facture désormais aussi les réponses envoyées dans la fenêtre de 24 h : garder les échanges WhatsApp courts.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MULTIAIR · conception, coûts et passation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Partie technique — le logiciel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8.1 + SQLite, sans framework ni base externe : un dossier MULTIAIR sur l'hébergement one.com.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976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F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index.php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Connexion et application (menu, pages)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F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api.php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: demandes, clients, équipe, routage, chat, ADV, devis, stats…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F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lib.php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Cœur métier : routage, messages, reconnaissance, relances, migrations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F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schema.sql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de la base (créée et mise à jour automatiquement)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F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assets/app.js · style.css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Écrans de la plateforme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F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demande.php · suivi.php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Lien secret équipe · page de suivi du client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F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compte.php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Choix du mot de passe (invitation, mot de passe oublié)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F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config.php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Clé API et chemin de la base — jamais dans GitHub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F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data/multiair.sqlite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base de données : à sauvegarder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600200"/>
            <a:ext cx="3749040" cy="4526280"/>
          </a:xfrm>
          <a:prstGeom prst="roundRect">
            <a:avLst>
              <a:gd name="adj" fmla="val 1951"/>
            </a:avLst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92440" y="1828800"/>
            <a:ext cx="603504" cy="60350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9351" y="1985711"/>
            <a:ext cx="289682" cy="28968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82396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jour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092440" y="2606040"/>
            <a:ext cx="3337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évolution est un « correctif » numéroté (zip) : on dépose les fichiers par SFTP (FileZilla).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se met à jour seule au premier appel (colonnes ajoutées, données reprises).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la version en ligne : api.php?r=ping.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code et les correctifs sont dans GitHub (dossier livraisons/).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MULTIAIR · conception, coûts et passation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Partie technique — données, API et sécurité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passe par api.php : les écrans de la plateforme comme les scénarios Make.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10512"/>
            <a:ext cx="566928" cy="566928"/>
          </a:xfrm>
          <a:prstGeom prst="ellipse">
            <a:avLst/>
          </a:prstGeom>
          <a:solidFill>
            <a:srgbClr val="0F2F52"/>
          </a:solidFill>
          <a:ln w="12700">
            <a:solidFill>
              <a:srgbClr val="0F2F5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1957913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81328" y="18928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60320"/>
            <a:ext cx="3154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rep_demandes : toutes les demandes, tous canaux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rep_evenements : historique (envois, réponses, relances)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rep_clients · rep_equipements : clients et parc machines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rep_contacts · rep_regles : équipe, accès, routage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rep_fiches : appels en attente de validation WhatsApp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chat_messages · chat_leads · adv_demandes · cso_devis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parametres : réglages modifiables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79392" y="1600200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07992" y="1810512"/>
            <a:ext cx="566928" cy="566928"/>
          </a:xfrm>
          <a:prstGeom prst="ellipse">
            <a:avLst/>
          </a:prstGeom>
          <a:solidFill>
            <a:srgbClr val="0F2F52"/>
          </a:solidFill>
          <a:ln w="12700">
            <a:solidFill>
              <a:srgbClr val="0F2F5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393" y="195791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12080" y="18928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(api.php?r=…)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07992" y="2560320"/>
            <a:ext cx="3154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rep/demandes : créer, relancer, prendre en charge, transférer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rep/fiches : fiches du répondeur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clients/vapi : reconnaissance de l'appelant (outil de Claire)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chat/leads : demandes du chatbot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· routage · stats · parametres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: version en ligne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10144" y="1600200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38744" y="1810512"/>
            <a:ext cx="566928" cy="566928"/>
          </a:xfrm>
          <a:prstGeom prst="ellipse">
            <a:avLst/>
          </a:prstGeom>
          <a:solidFill>
            <a:srgbClr val="0F2F52"/>
          </a:solidFill>
          <a:ln w="12700">
            <a:solidFill>
              <a:srgbClr val="0F2F5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145" y="195791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42832" y="18928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38744" y="2560320"/>
            <a:ext cx="3154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et VAPI s'identifient avec une clé API (en-tête X-Api-Key)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se connecte par e-mail + mot de passe (empreinte seulement en base)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limité à son service ; admins : tout ; RSO : tout le SAV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secrets : équipe (demande.php) et client (suivi.php)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de portable d'un collaborateur communiqué aux clients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MULTIAIR · conception, coûts et passation ·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Partie technique — scénarios Make du circuit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Make « Multiair France » (zone eu2), plan Core. Dossier Repondeur_IA et chatbot.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005840"/>
                <a:gridCol w="2194560"/>
                <a:gridCol w="3931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Scénario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Déclencheur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Répondeur IA V2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9582857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 VAPI (fin d'appel)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Fiche, demande, e-mail, SMS SAV, WhatsApp de 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Répondeur WhatsApp — Aiguilleur v2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9583010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 Meta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 les messages WhatsApp entrants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Répondeur IA V3 — Suivi WhatsApp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9583172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Aiguilleur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par le client, transmission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Répondeur IA — Relance 10 min (déclenchée par appel)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9889556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 plateforme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Transmet si pas de réponse WhatsApp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Répondeur IA — Suivi client (WhatsApp + e-mail)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9885724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 plateforme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 de suivi, invitations, transferts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 Multiair France — Claire v12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9295374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 du 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Réponses du chatbot, demande, e-mail, SMS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Claire ADV — Orchestrateur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9209946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Boîte e-mail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Demandes reçues par e-mail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automatisations actives hors circuit des demandes : devis CSO et relances, prix distributeur, formulaire WCF, jeu Mauguière, blog, LinkedIn, stock TDC. L'ancien scénario « Relance 10 min sans réponse WhatsApp » est désactivé (conservé pour revenir en arrière).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MULTIAIR · conception, coûts et passation ·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Réglages et secrets : où ils se trouvent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mot de passe ni clé ne figure dans ce document : seulement leur emplacement.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394960"/>
                <a:gridCol w="292608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Élément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d'attention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Clé API de la plateforme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config.php (serveur) + en-têtes des scénarios Make + outils VAPI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Changer partout en même temps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Adresses des webhooks Make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Plateforme › paramètres (rep_webhook_suivi, rep_webhook_relance)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un scénario est recréé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Jeton WhatsApp (Meta)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 HTTP des scénarios WhatsApp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Passer à un jeton « utilisateur système 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Connexions Make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› Connexions : e-mail, Brevo, Anthropic, Google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 nom de l'entreprise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 Claire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VAPI : assistant db2b8de8…, outils identifier_client et envoyer_demande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versionné dans GitHub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serveur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one.com : compte, SFTP, domaine multiairfrance.store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 de passe SFTP à changer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Comptes de l'équipe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Plateforme › Équipe et accès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Invitation par e-mail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MULTIAIR · conception, coûts et passation ·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Transférer le projet à un tiers : outil par outil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que tout continue de fonctionner sans vous, sur des comptes au nom de l'entreprise.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66751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faire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F5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Organisation › Utilisateurs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Inviter le repreneur, lui donner le rôle Propriétaire ; moyen de paiement entreprise ; reconnecter les connexions avec des comptes de l'entreprise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Organisation › Membres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Inviter en administrateur ; carte de l'entreprise ; vérifier numéro, assistant et outils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(WhatsApp)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Manager › Personnes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Administrateur du Business Manager et du compte WhatsApp ; jeton permanent « utilisateur système » ; paiement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Paramètres › Utilisateurs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Ajouter l'utilisateur ; crédits SMS ; expéditeur « Multiair 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 › Organisation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Ajouter le membre ; clé utilisée par Make ; facturation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Panneau de contrôle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au compte, au domaine et au SFTP ; sauvegarde de la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Plateforme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Équipe et accès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Créer son compte administrateur ; retirer le vôtre à la fin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Dépôt multiair_interne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Transférer le dépôt ou l'ajouter comme propriétaire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MULTIAIR · conception, coûts et passation ·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passation en 6 étapes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dérouler dans l'ordre ; compter une demi-journée avec le repreneur.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603504" cy="60350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151" y="2031431"/>
            <a:ext cx="289682" cy="2896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1947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Inventaire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06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document, la liste des scénarios et des identifiants, le dépôt GitHub.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79392" y="164592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07992" y="1874520"/>
            <a:ext cx="603504" cy="60350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903" y="2031431"/>
            <a:ext cx="289682" cy="2896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66944" y="1947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Comptes entreprise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07992" y="2606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adresse e-mail générique et un moyen de paiement de l'entreprise pour chaque outil.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10144" y="164592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38744" y="1874520"/>
            <a:ext cx="603504" cy="60350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655" y="2031431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97696" y="1947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Inviter le repreneur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38744" y="2606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 partout : Make, VAPI, Meta, Brevo, Anthropic, one.com, GitHub, plateforme.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160520"/>
            <a:ext cx="603504" cy="60350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431743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36192" y="4233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Reconnecter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892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Connexions Make (e-mail, Brevo, Anthropic, Google) sur les comptes de l'entreprise.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279392" y="393192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DE6D8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07992" y="4160520"/>
            <a:ext cx="603504" cy="603504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903" y="4317431"/>
            <a:ext cx="289682" cy="28968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66944" y="4233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Changer les secrets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07992" y="4892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clé API (serveur, Make, VAPI), mot de passe SFTP, jeton WhatsApp permanent.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010144" y="393192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38744" y="4160520"/>
            <a:ext cx="603504" cy="60350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5655" y="4317431"/>
            <a:ext cx="289682" cy="28968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97696" y="4233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Tester, puis partir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238744" y="4892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appel, un chat, un WhatsApp, un SMS ; ensuite seulement, retirer vos accès.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MULTIAIR · conception, coûts et passation ·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Faire tourner au quotidien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routine simple suffit ; les risques connus sont listés à droite.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10512"/>
            <a:ext cx="566928" cy="5669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1957913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928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60320"/>
            <a:ext cx="4983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semaine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« État des scénarios » et erreurs dans Make.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« À traiter » anciennes : relancer ou clôturer.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mois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Crédits Make restants, factures VAPI, Meta, Brevo, Anthropic.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de data/multiair.sqlite (copie SFTP).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et routage à jour (arrivées, départs, congés).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810512"/>
            <a:ext cx="566928" cy="566928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641" y="195791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8928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connus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56032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clé API est écrite dans une dizaine de scénarios Make : à changer partout en même temps.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jeton WhatsApp est dans les scénarios : passer à un jeton permanent d'utilisateur système.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administrateur technique : prévoir un second dès maintenant.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de la base manuelles : à planifier.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du serveur rattrapage_devis.php et check.php, et changer le mot de passe SFTP.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 WhatsApp modifiés le 1er octobre 2026.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MULTIAIR · conception, coûts et passation ·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F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2201875"/>
            <a:ext cx="351130" cy="3511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199339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plateforme, quatre canaux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24231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demandes au même endroit, routées, suivies et tracées.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333756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15" y="3527755"/>
            <a:ext cx="351130" cy="3511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33192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0,40–0,90 € par appel, ≈ 0,30–0,45 € par chat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691640" y="3749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130 € par mois pour 150 appels et 100 conversations.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31520" y="466344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" y="4853635"/>
            <a:ext cx="351130" cy="35113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91640" y="464515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Transmissible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691640" y="5074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au nom de l'entreprise, repreneur administrateur partout, secrets changés, puis tests.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: multiairfrance.store/calculateurs/interne/MULTIAIR · Code : GitHub, dépôt multiair_interne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MULTIAIR — conception, coûts et passation</dc:title>
  <dc:subject>PptxGenJS Presentation</dc:subject>
  <dc:creator>Multiair France</dc:creator>
  <cp:lastModifiedBy>Multiair France</cp:lastModifiedBy>
  <cp:revision>1</cp:revision>
  <dcterms:created xsi:type="dcterms:W3CDTF">2026-09-30T05:21:11Z</dcterms:created>
  <dcterms:modified xsi:type="dcterms:W3CDTF">2026-09-30T05:21:11Z</dcterms:modified>
</cp:coreProperties>
</file>